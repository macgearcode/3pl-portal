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A9E1"/>
                </a:solidFill>
                <a:latin typeface="Segoe UI"/>
              </a:rPr>
              <a:t>MACGEAR  ·  INTERNAL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3PL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C9DCE6"/>
                </a:solidFill>
                <a:latin typeface="Segoe UI"/>
              </a:rPr>
              <a:t>A customer visibility portal and automated billing engine for our new third-party logistics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B4C6"/>
                </a:solidFill>
                <a:latin typeface="Segoe UI"/>
              </a:rPr>
              <a:t>Live on NetSuite production  ·  First customer: Mova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2B2D"/>
                </a:solidFill>
                <a:latin typeface="Segoe UI"/>
              </a:rPr>
              <a:t>What we built,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8585A"/>
                </a:solidFill>
                <a:latin typeface="Segoe UI"/>
              </a:rPr>
              <a:t>We now store and handle stock we don't own, and charge for it. That created two jobs nobody had a system for: showing the customer their stock, and billing them accurately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52600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514600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The customer can see their own stock, live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No more emailed spreadsheets or "can you check how many we have?"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398928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360928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Weekly charges calculate themselves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Five manual saved searches replaced by one reviewed draft invoice.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45256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207256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NetSuite stays the single source of truth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The portal reads from it and writes drafts back to it. No parallel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91584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5053584"/>
            <a:ext cx="5154168" cy="448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2B2B2D"/>
                </a:solidFill>
                <a:latin typeface="Segoe UI"/>
              </a:rPr>
              <a:t>Built to take on more customers</a:t>
            </a:r>
          </a:p>
          <a:p>
            <a:pPr>
              <a:spcBef>
                <a:spcPts val="200"/>
              </a:spcBef>
            </a:pPr>
            <a:r>
              <a:rPr sz="1250" dirty="0">
                <a:solidFill>
                  <a:srgbClr val="58585A"/>
                </a:solidFill>
                <a:latin typeface="Segoe UI"/>
              </a:rPr>
              <a:t>Mova is first. Adding the next one is </a:t>
            </a:r>
            <a:r>
              <a:rPr lang="en-AU" sz="1250" dirty="0">
                <a:solidFill>
                  <a:srgbClr val="58585A"/>
                </a:solidFill>
                <a:latin typeface="Segoe UI"/>
              </a:rPr>
              <a:t>filling out a </a:t>
            </a:r>
            <a:r>
              <a:rPr sz="1250" dirty="0">
                <a:solidFill>
                  <a:srgbClr val="58585A"/>
                </a:solidFill>
                <a:latin typeface="Segoe UI"/>
              </a:rPr>
              <a:t>form, not a rebuild.</a:t>
            </a:r>
          </a:p>
        </p:txBody>
      </p:sp>
      <p:pic>
        <p:nvPicPr>
          <p:cNvPr id="13" name="Picture 12" descr="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669280" cy="2480310"/>
          </a:xfrm>
          <a:prstGeom prst="rect">
            <a:avLst/>
          </a:prstGeom>
          <a:ln w="9525">
            <a:solidFill>
              <a:srgbClr val="D8DDE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943600" y="43159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A8C"/>
                </a:solidFill>
                <a:latin typeface="Segoe UI"/>
              </a:rPr>
              <a:t>The customer's landing page — stock, pallets, inbound and charges at a glance.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A8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2B2D"/>
                </a:solidFill>
                <a:latin typeface="Segoe UI"/>
              </a:rPr>
              <a:t>What the customer can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8585A"/>
                </a:solidFill>
                <a:latin typeface="Segoe UI"/>
              </a:rPr>
              <a:t>Six views, all fed from NetSuite. Stock on hand refreshes every 15 minutes.</a:t>
            </a:r>
          </a:p>
        </p:txBody>
      </p:sp>
      <p:pic>
        <p:nvPicPr>
          <p:cNvPr id="5" name="Picture 4" descr="st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486400" cy="2400300"/>
          </a:xfrm>
          <a:prstGeom prst="rect">
            <a:avLst/>
          </a:prstGeom>
          <a:ln w="9525">
            <a:solidFill>
              <a:srgbClr val="D8DDE2"/>
            </a:solidFill>
          </a:ln>
        </p:spPr>
      </p:pic>
      <p:pic>
        <p:nvPicPr>
          <p:cNvPr id="6" name="Picture 5" descr="onor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257800" cy="2300288"/>
          </a:xfrm>
          <a:prstGeom prst="rect">
            <a:avLst/>
          </a:prstGeom>
          <a:ln w="9525">
            <a:solidFill>
              <a:srgbClr val="D8DD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251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A8C"/>
                </a:solidFill>
                <a:latin typeface="Segoe UI"/>
              </a:rPr>
              <a:t>Stock on hand — units, pallets and what storage is costing, per SKU.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5196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A8C"/>
                </a:solidFill>
                <a:latin typeface="Segoe UI"/>
              </a:rPr>
              <a:t>Stock on order — what's on the water, container by container.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Stock on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open POs inbound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Item receipts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what landed, and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Stock on hand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live, every 15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Fulfilments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what went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8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Invoices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charges, with the week billed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4892040"/>
            <a:ext cx="1737360" cy="86868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49256" y="503834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2B2B2D"/>
                </a:solidFill>
                <a:latin typeface="Segoe UI"/>
              </a:rPr>
              <a:t>Rate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53309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8A8A8C"/>
                </a:solidFill>
                <a:latin typeface="Segoe UI"/>
              </a:rPr>
              <a:t>the agreed 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A8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2B2D"/>
                </a:solidFill>
                <a:latin typeface="Segoe UI"/>
              </a:rPr>
              <a:t>The part that saves real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8585A"/>
                </a:solidFill>
                <a:latin typeface="Segoe UI"/>
              </a:rPr>
              <a:t>Every Monday the portal drafts the previous week's invoice by itself — containers unloaded, units put away, pallets stored, units picked — priced off the agreed rate card. Someone reviews it and presses a button.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35480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697480"/>
            <a:ext cx="4681728" cy="4488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2B2B2D"/>
                </a:solidFill>
                <a:latin typeface="Segoe UI"/>
              </a:rPr>
              <a:t>Nothing is ever invoiced automatically</a:t>
            </a:r>
          </a:p>
          <a:p>
            <a:pPr>
              <a:spcBef>
                <a:spcPts val="200"/>
              </a:spcBef>
            </a:pPr>
            <a:r>
              <a:rPr sz="1250" dirty="0">
                <a:solidFill>
                  <a:srgbClr val="58585A"/>
                </a:solidFill>
                <a:latin typeface="Segoe UI"/>
              </a:rPr>
              <a:t>It creates a DRAFT</a:t>
            </a:r>
            <a:r>
              <a:rPr lang="en-AU" sz="1250" dirty="0">
                <a:solidFill>
                  <a:srgbClr val="58585A"/>
                </a:solidFill>
                <a:latin typeface="Segoe UI"/>
              </a:rPr>
              <a:t> in the portal</a:t>
            </a:r>
            <a:r>
              <a:rPr sz="1250" dirty="0">
                <a:solidFill>
                  <a:srgbClr val="58585A"/>
                </a:solidFill>
                <a:latin typeface="Segoe UI"/>
              </a:rPr>
              <a:t>. A person always approves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556408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518408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The draft can be edited before it goes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Adjust a line, or add ad-hoc charges like labour, kitting or freight.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377336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339336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Under-billing is flagged, not hidden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A container with no charge against it says so, in red, before you send.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198264"/>
            <a:ext cx="100584" cy="100584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5160264"/>
            <a:ext cx="46817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B2B2D"/>
                </a:solidFill>
                <a:latin typeface="Segoe UI"/>
              </a:rPr>
              <a:t>Changes made in NetSuite flow back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58585A"/>
                </a:solidFill>
                <a:latin typeface="Segoe UI"/>
              </a:rPr>
              <a:t>Edit the invoice there and the portal shows the difference.</a:t>
            </a:r>
          </a:p>
        </p:txBody>
      </p:sp>
      <p:pic>
        <p:nvPicPr>
          <p:cNvPr id="13" name="Picture 12" descr="bil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669280" cy="2480310"/>
          </a:xfrm>
          <a:prstGeom prst="rect">
            <a:avLst/>
          </a:prstGeom>
          <a:ln w="9525">
            <a:solidFill>
              <a:srgbClr val="D8DDE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943600" y="381304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A8C"/>
                </a:solidFill>
                <a:latin typeface="Segoe UI"/>
              </a:rPr>
              <a:t>A week's draft, ready for review — every line traceable to its source documents.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434840"/>
            <a:ext cx="566928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464515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39C"/>
                </a:solidFill>
                <a:latin typeface="Segoe UI"/>
              </a:rPr>
              <a:t>Replaces five saved searches, run by hand, every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1091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58585A"/>
                </a:solidFill>
                <a:latin typeface="Segoe UI"/>
              </a:rPr>
              <a:t>The risk it removes matters more than the time: a missed container is $1,500 nobody notices.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A8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2B2D"/>
                </a:solidFill>
                <a:latin typeface="Segoe UI"/>
              </a:rPr>
              <a:t>Where it's up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5349240" cy="320040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739C"/>
                </a:solidFill>
                <a:latin typeface="Segoe UI"/>
              </a:rPr>
              <a:t>LIVE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09400"/>
            <a:ext cx="82296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D"/>
                </a:solidFill>
                <a:latin typeface="Segoe UI"/>
              </a:rPr>
              <a:t>Running on NetSuite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39168"/>
            <a:ext cx="82296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871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D"/>
                </a:solidFill>
                <a:latin typeface="Segoe UI"/>
              </a:rPr>
              <a:t>All six customer views populated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68936"/>
            <a:ext cx="82296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916936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dirty="0">
                <a:solidFill>
                  <a:srgbClr val="2B2B2D"/>
                </a:solidFill>
                <a:latin typeface="Segoe UI"/>
              </a:rPr>
              <a:t>Real movements sync'd every 15mins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3398704"/>
            <a:ext cx="82296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34670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D"/>
                </a:solidFill>
                <a:latin typeface="Segoe UI"/>
              </a:rPr>
              <a:t>Stock on hand live every 15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28472"/>
            <a:ext cx="82296" cy="82296"/>
          </a:xfrm>
          <a:prstGeom prst="rect">
            <a:avLst/>
          </a:prstGeom>
          <a:solidFill>
            <a:srgbClr val="25A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77647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D"/>
                </a:solidFill>
                <a:latin typeface="Segoe UI"/>
              </a:rPr>
              <a:t>Weekly billing drafts generating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80160"/>
            <a:ext cx="5349240" cy="3200400"/>
          </a:xfrm>
          <a:prstGeom prst="rect">
            <a:avLst/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554480"/>
            <a:ext cx="47548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1" dirty="0">
                <a:solidFill>
                  <a:srgbClr val="58585A"/>
                </a:solidFill>
                <a:latin typeface="Segoe UI"/>
              </a:rPr>
              <a:t>Version 2.0</a:t>
            </a:r>
            <a:endParaRPr sz="1300" b="1" dirty="0">
              <a:solidFill>
                <a:srgbClr val="58585A"/>
              </a:solidFill>
              <a:latin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766560" y="2109400"/>
            <a:ext cx="82296" cy="8229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2057400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dirty="0">
                <a:solidFill>
                  <a:srgbClr val="2B2B2D"/>
                </a:solidFill>
                <a:latin typeface="Segoe UI"/>
              </a:rPr>
              <a:t>Customer generated orders 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766560" y="2539168"/>
            <a:ext cx="82296" cy="8229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2487168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dirty="0">
                <a:solidFill>
                  <a:srgbClr val="2B2B2D"/>
                </a:solidFill>
                <a:latin typeface="Segoe UI"/>
              </a:rPr>
              <a:t>Customer own team management. 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66560" y="2968936"/>
            <a:ext cx="82296" cy="8229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2916936"/>
            <a:ext cx="204724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0" dirty="0">
                <a:solidFill>
                  <a:srgbClr val="2B2B2D"/>
                </a:solidFill>
                <a:latin typeface="Segoe UI"/>
              </a:rPr>
              <a:t>Tracking and shipping info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66560" y="3398704"/>
            <a:ext cx="82296" cy="8229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60" y="3346704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0" dirty="0">
                <a:solidFill>
                  <a:srgbClr val="2B2B2D"/>
                </a:solidFill>
                <a:latin typeface="Segoe UI"/>
              </a:rPr>
              <a:t>Basic reporting and Alerts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480060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8585A"/>
                </a:solidFill>
                <a:latin typeface="Segoe UI"/>
              </a:rPr>
              <a:t>Built in-house, no licence cost, no new supplier. It runs alongside the tools we already have and uses the NetSuite data we already keep.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739C"/>
                </a:solidFill>
                <a:latin typeface="Segoe UI"/>
              </a:rPr>
              <a:t>Happy to walk anyone through it — Aaron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A8C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107666-7F53-EA97-5AD1-AD78ED7DD382}"/>
              </a:ext>
            </a:extLst>
          </p:cNvPr>
          <p:cNvSpPr/>
          <p:nvPr/>
        </p:nvSpPr>
        <p:spPr>
          <a:xfrm>
            <a:off x="6766560" y="3761600"/>
            <a:ext cx="82296" cy="82296"/>
          </a:xfrm>
          <a:prstGeom prst="rect">
            <a:avLst/>
          </a:prstGeom>
          <a:solidFill>
            <a:srgbClr val="B8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34032-399C-2D10-E254-1A9E8A8767BD}"/>
              </a:ext>
            </a:extLst>
          </p:cNvPr>
          <p:cNvSpPr txBox="1"/>
          <p:nvPr/>
        </p:nvSpPr>
        <p:spPr>
          <a:xfrm>
            <a:off x="6995160" y="3709600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0" dirty="0">
                <a:solidFill>
                  <a:srgbClr val="2B2B2D"/>
                </a:solidFill>
                <a:latin typeface="Segoe UI"/>
              </a:rPr>
              <a:t>Payment integration</a:t>
            </a:r>
            <a:endParaRPr sz="1300" b="0" dirty="0">
              <a:solidFill>
                <a:srgbClr val="2B2B2D"/>
              </a:solidFill>
              <a:latin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5E5F5A-0B04-5047-DA20-4C0265EC1676}"/>
              </a:ext>
            </a:extLst>
          </p:cNvPr>
          <p:cNvSpPr txBox="1"/>
          <p:nvPr/>
        </p:nvSpPr>
        <p:spPr>
          <a:xfrm>
            <a:off x="8997950" y="2972803"/>
            <a:ext cx="204724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700" b="0" dirty="0">
                <a:solidFill>
                  <a:srgbClr val="2B2B2D"/>
                </a:solidFill>
                <a:latin typeface="Segoe UI"/>
              </a:rPr>
              <a:t>** Not required for Mova left for v2</a:t>
            </a:r>
            <a:endParaRPr sz="700" b="0" dirty="0">
              <a:solidFill>
                <a:srgbClr val="2B2B2D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539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Aaron Steel</cp:lastModifiedBy>
  <cp:revision>7</cp:revision>
  <dcterms:created xsi:type="dcterms:W3CDTF">2013-01-27T09:14:16Z</dcterms:created>
  <dcterms:modified xsi:type="dcterms:W3CDTF">2026-08-06T01:47:57Z</dcterms:modified>
  <cp:category/>
</cp:coreProperties>
</file>